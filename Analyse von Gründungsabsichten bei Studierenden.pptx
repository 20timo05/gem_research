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6" r:id="rId9"/>
    <p:sldId id="267" r:id="rId10"/>
    <p:sldId id="268" r:id="rId11"/>
    <p:sldId id="265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76019" autoAdjust="0"/>
  </p:normalViewPr>
  <p:slideViewPr>
    <p:cSldViewPr snapToGrid="0">
      <p:cViewPr varScale="1">
        <p:scale>
          <a:sx n="86" d="100"/>
          <a:sy n="86" d="100"/>
        </p:scale>
        <p:origin x="14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9030CA-B9FD-4CD2-B967-D3AFC5430AF8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295C4F-D828-41A8-AACC-1EF9B81AA18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92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Im Internet sind sich viele einig:</a:t>
            </a:r>
          </a:p>
          <a:p>
            <a:r>
              <a:rPr lang="de-DE" dirty="0"/>
              <a:t>Abhängig von einem Arbeitgeber und „gefangen“ in einem 9-5 Job ist keine Traumvorstellung.</a:t>
            </a:r>
          </a:p>
          <a:p>
            <a:r>
              <a:rPr lang="en-US" dirty="0"/>
              <a:t>Da </a:t>
            </a:r>
            <a:r>
              <a:rPr lang="en-US" dirty="0" err="1"/>
              <a:t>viele</a:t>
            </a:r>
            <a:r>
              <a:rPr lang="en-US" dirty="0"/>
              <a:t> </a:t>
            </a:r>
            <a:r>
              <a:rPr lang="en-US" dirty="0" err="1"/>
              <a:t>Jugendliche</a:t>
            </a:r>
            <a:r>
              <a:rPr lang="en-US" dirty="0"/>
              <a:t>/ </a:t>
            </a:r>
            <a:r>
              <a:rPr lang="en-US" dirty="0" err="1"/>
              <a:t>junge</a:t>
            </a:r>
            <a:r>
              <a:rPr lang="en-US" dirty="0"/>
              <a:t> </a:t>
            </a:r>
            <a:r>
              <a:rPr lang="en-US" dirty="0" err="1"/>
              <a:t>Erwachsene</a:t>
            </a:r>
            <a:r>
              <a:rPr lang="en-US" dirty="0"/>
              <a:t> ja </a:t>
            </a:r>
            <a:r>
              <a:rPr lang="en-US" dirty="0" err="1"/>
              <a:t>viel</a:t>
            </a:r>
            <a:r>
              <a:rPr lang="en-US" dirty="0"/>
              <a:t> Content </a:t>
            </a:r>
            <a:r>
              <a:rPr lang="en-US" dirty="0" err="1"/>
              <a:t>aus</a:t>
            </a:r>
            <a:r>
              <a:rPr lang="en-US" dirty="0"/>
              <a:t> dem Internet </a:t>
            </a:r>
            <a:r>
              <a:rPr lang="en-US" dirty="0" err="1"/>
              <a:t>schauen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 man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vorstellen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das </a:t>
            </a:r>
            <a:r>
              <a:rPr lang="en-US" dirty="0" err="1"/>
              <a:t>auch</a:t>
            </a:r>
            <a:r>
              <a:rPr lang="en-US" dirty="0"/>
              <a:t> der </a:t>
            </a:r>
            <a:r>
              <a:rPr lang="en-US" dirty="0" err="1"/>
              <a:t>Einstellung</a:t>
            </a:r>
            <a:r>
              <a:rPr lang="en-US" dirty="0"/>
              <a:t> von </a:t>
            </a:r>
            <a:r>
              <a:rPr lang="en-US" dirty="0" err="1"/>
              <a:t>jungen</a:t>
            </a:r>
            <a:r>
              <a:rPr lang="en-US" dirty="0"/>
              <a:t> </a:t>
            </a:r>
            <a:r>
              <a:rPr lang="en-US" dirty="0" err="1"/>
              <a:t>Erwachsenen</a:t>
            </a:r>
            <a:r>
              <a:rPr lang="en-US" dirty="0"/>
              <a:t> </a:t>
            </a:r>
            <a:r>
              <a:rPr lang="en-US" dirty="0" err="1"/>
              <a:t>entspricht</a:t>
            </a:r>
            <a:r>
              <a:rPr lang="en-US" dirty="0"/>
              <a:t>.</a:t>
            </a:r>
          </a:p>
          <a:p>
            <a:r>
              <a:rPr lang="en-US" dirty="0" err="1"/>
              <a:t>Mit</a:t>
            </a:r>
            <a:r>
              <a:rPr lang="en-US" dirty="0"/>
              <a:t> KI on the rise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immer</a:t>
            </a:r>
            <a:r>
              <a:rPr lang="en-US" dirty="0"/>
              <a:t> </a:t>
            </a:r>
            <a:r>
              <a:rPr lang="en-US" dirty="0" err="1"/>
              <a:t>mehr</a:t>
            </a:r>
            <a:r>
              <a:rPr lang="en-US" dirty="0"/>
              <a:t> </a:t>
            </a:r>
            <a:r>
              <a:rPr lang="en-US" dirty="0" err="1"/>
              <a:t>junge</a:t>
            </a:r>
            <a:r>
              <a:rPr lang="en-US" dirty="0"/>
              <a:t> </a:t>
            </a:r>
            <a:r>
              <a:rPr lang="en-US" dirty="0" err="1"/>
              <a:t>Erwachsene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Angst </a:t>
            </a:r>
            <a:r>
              <a:rPr lang="en-US" dirty="0" err="1"/>
              <a:t>abhängig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sein von </a:t>
            </a:r>
            <a:r>
              <a:rPr lang="en-US" dirty="0" err="1"/>
              <a:t>einem</a:t>
            </a:r>
            <a:r>
              <a:rPr lang="en-US" dirty="0"/>
              <a:t> </a:t>
            </a:r>
            <a:r>
              <a:rPr lang="en-US" dirty="0" err="1"/>
              <a:t>Arbeitgeber</a:t>
            </a:r>
            <a:r>
              <a:rPr lang="en-US" dirty="0"/>
              <a:t> der </a:t>
            </a:r>
            <a:r>
              <a:rPr lang="en-US" dirty="0" err="1"/>
              <a:t>sie</a:t>
            </a:r>
            <a:r>
              <a:rPr lang="en-US" dirty="0"/>
              <a:t> </a:t>
            </a:r>
            <a:r>
              <a:rPr lang="en-US" dirty="0" err="1"/>
              <a:t>jeder</a:t>
            </a:r>
            <a:r>
              <a:rPr lang="en-US" dirty="0"/>
              <a:t> Zeit </a:t>
            </a:r>
            <a:r>
              <a:rPr lang="en-US" dirty="0" err="1"/>
              <a:t>durch</a:t>
            </a:r>
            <a:r>
              <a:rPr lang="en-US" dirty="0"/>
              <a:t> KI </a:t>
            </a:r>
            <a:r>
              <a:rPr lang="en-US" dirty="0" err="1"/>
              <a:t>ersetzen</a:t>
            </a:r>
            <a:r>
              <a:rPr lang="en-US" dirty="0"/>
              <a:t> </a:t>
            </a:r>
            <a:r>
              <a:rPr lang="en-US" dirty="0" err="1"/>
              <a:t>könnte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95C4F-D828-41A8-AACC-1EF9B81AA1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43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Wieso wollen dann „nur“ 20% ein Business starten?</a:t>
            </a:r>
          </a:p>
          <a:p>
            <a:r>
              <a:rPr lang="de-DE" dirty="0"/>
              <a:t>Die Leute die </a:t>
            </a:r>
            <a:r>
              <a:rPr lang="de-DE" dirty="0" err="1"/>
              <a:t>ein‘s</a:t>
            </a:r>
            <a:r>
              <a:rPr lang="de-DE" dirty="0"/>
              <a:t> starten wollen werden aktiv unterstützt zum Beispiel vom DIT Startup Campus.</a:t>
            </a:r>
          </a:p>
          <a:p>
            <a:r>
              <a:rPr lang="en-US" dirty="0" err="1"/>
              <a:t>Doch</a:t>
            </a:r>
            <a:r>
              <a:rPr lang="en-US" dirty="0"/>
              <a:t> </a:t>
            </a:r>
            <a:r>
              <a:rPr lang="en-US" dirty="0" err="1"/>
              <a:t>wenn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9-5 Job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“</a:t>
            </a:r>
            <a:r>
              <a:rPr lang="en-US" dirty="0" err="1"/>
              <a:t>Sklaverei</a:t>
            </a:r>
            <a:r>
              <a:rPr lang="en-US" dirty="0"/>
              <a:t>” </a:t>
            </a:r>
            <a:r>
              <a:rPr lang="en-US" dirty="0" err="1"/>
              <a:t>anfühlt</a:t>
            </a:r>
            <a:r>
              <a:rPr lang="en-US" dirty="0"/>
              <a:t>, was </a:t>
            </a:r>
            <a:r>
              <a:rPr lang="en-US" dirty="0" err="1"/>
              <a:t>hält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80% </a:t>
            </a:r>
            <a:r>
              <a:rPr lang="en-US" dirty="0" err="1"/>
              <a:t>davon</a:t>
            </a:r>
            <a:r>
              <a:rPr lang="en-US" dirty="0"/>
              <a:t> ab </a:t>
            </a:r>
            <a:r>
              <a:rPr lang="en-US" dirty="0" err="1"/>
              <a:t>ein</a:t>
            </a:r>
            <a:r>
              <a:rPr lang="en-US" dirty="0"/>
              <a:t> Business </a:t>
            </a:r>
            <a:r>
              <a:rPr lang="en-US" dirty="0" err="1"/>
              <a:t>starten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wollen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95C4F-D828-41A8-AACC-1EF9B81AA18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64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Ich könnte den ganzen Talk darüber reden, was alles in der Datenaufbereitung passiert ist, aber lass uns lieber die Ergebnisse anschauen.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95C4F-D828-41A8-AACC-1EF9B81AA18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25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Accuracy</a:t>
            </a:r>
            <a:r>
              <a:rPr lang="de-DE" dirty="0"/>
              <a:t> würde irreführend sein hier. Ein Modell das nur „Nein“ vorhersagt hat eine </a:t>
            </a:r>
            <a:r>
              <a:rPr lang="de-DE" dirty="0" err="1"/>
              <a:t>Accuracy</a:t>
            </a:r>
            <a:r>
              <a:rPr lang="de-DE" dirty="0"/>
              <a:t> von 80%.</a:t>
            </a:r>
          </a:p>
          <a:p>
            <a:r>
              <a:rPr lang="en-US" dirty="0" err="1"/>
              <a:t>Menschliche</a:t>
            </a:r>
            <a:r>
              <a:rPr lang="en-US" dirty="0"/>
              <a:t> </a:t>
            </a:r>
            <a:r>
              <a:rPr lang="en-US" dirty="0" err="1"/>
              <a:t>Psychologie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sehr</a:t>
            </a:r>
            <a:r>
              <a:rPr lang="en-US" dirty="0"/>
              <a:t> complex.</a:t>
            </a:r>
          </a:p>
          <a:p>
            <a:r>
              <a:rPr lang="en-US" dirty="0"/>
              <a:t>Es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die </a:t>
            </a:r>
            <a:r>
              <a:rPr lang="en-US" dirty="0" err="1"/>
              <a:t>höchste</a:t>
            </a:r>
            <a:r>
              <a:rPr lang="en-US" dirty="0"/>
              <a:t> </a:t>
            </a:r>
            <a:r>
              <a:rPr lang="en-US" dirty="0" err="1"/>
              <a:t>Priorität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Benchmarks so </a:t>
            </a:r>
            <a:r>
              <a:rPr lang="en-US" dirty="0" err="1"/>
              <a:t>hoch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bekommen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möglich</a:t>
            </a:r>
            <a:r>
              <a:rPr lang="en-US" dirty="0"/>
              <a:t>, </a:t>
            </a:r>
            <a:r>
              <a:rPr lang="en-US" dirty="0" err="1"/>
              <a:t>sondern</a:t>
            </a:r>
            <a:r>
              <a:rPr lang="en-US" dirty="0"/>
              <a:t> die </a:t>
            </a:r>
            <a:r>
              <a:rPr lang="en-US" dirty="0" err="1"/>
              <a:t>generellen</a:t>
            </a:r>
            <a:r>
              <a:rPr lang="en-US" dirty="0"/>
              <a:t> Trends gut </a:t>
            </a:r>
            <a:r>
              <a:rPr lang="en-US" dirty="0" err="1"/>
              <a:t>zu</a:t>
            </a:r>
            <a:r>
              <a:rPr lang="en-US" dirty="0"/>
              <a:t> verstehen.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95C4F-D828-41A8-AACC-1EF9B81AA18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03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C4624-78CE-CF91-0103-0BC6D0431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CE3CA3-587D-471B-7267-1672C28D0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942ED-A082-6D48-55FE-DFDA90D60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AF80-18D8-4548-A4D4-FE8274C0938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C074C-DF05-1876-A08D-D1F9979E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5021F-BA5F-C6C4-4088-CF2D779DA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0D0D-1AD5-4C2A-B997-822FD7E372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0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EF88A-0D56-994B-3EBF-61B9E0B33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96DB4-8936-442D-C718-9C5BAA62F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6D3DC-8591-76EC-C2FA-6B9D19EE2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AF80-18D8-4548-A4D4-FE8274C0938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D345F-419D-0270-FCDE-0C967FF47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5FC46-D312-E00C-8178-35D5BFB4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0D0D-1AD5-4C2A-B997-822FD7E372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779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DA05E-C0DF-9295-248B-EBF5B986A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CAC93-9FFD-657C-96B0-7372AF8DF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9B03C-47A3-A86A-D276-BF9CE4F74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AF80-18D8-4548-A4D4-FE8274C0938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9BB71-EFE6-C7C3-D583-05FB8DCA6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18D86-D76C-EFF5-7C57-1B1592B7F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0D0D-1AD5-4C2A-B997-822FD7E372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715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ED8DE-1E20-4A4C-E0AA-6768F6682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D8ABF-B5D9-7402-95AB-FE2F71B3D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4C401-4B38-3BB2-22F8-F024E2550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479190-9ADC-FF56-00A8-7E6FC1863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AF80-18D8-4548-A4D4-FE8274C0938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2F552-922B-8D8F-E275-3A0A7A905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212E3-260C-483B-C191-B20390285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0D0D-1AD5-4C2A-B997-822FD7E372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22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D7F19-1F75-E6A9-D024-3634E307C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5B40B-724B-0732-8B63-17E1E05B0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417A9-246A-E6B7-F9CB-45ACFCB8B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4FE287-1B08-EEDB-3682-124D646E1D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142E9E-D9CC-3458-464D-D78242870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C90B3E-1278-9E22-0B95-A010A32E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AF80-18D8-4548-A4D4-FE8274C0938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71FA63-3E65-637F-4C43-4951800AE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251C76-85D7-5C93-C7E1-1D1087EB5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0D0D-1AD5-4C2A-B997-822FD7E372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52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FBAFD-748C-619F-42B7-D05FC1949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F0A222-79E5-7508-2F9E-FB748FEAE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AF80-18D8-4548-A4D4-FE8274C0938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871F28-0BFB-9C92-4D8A-C48C0432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2E3B65-0AC5-B079-A2C8-A302E21F8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0D0D-1AD5-4C2A-B997-822FD7E372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20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98A0A6-5246-BD2C-19D6-8AB08D89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AF80-18D8-4548-A4D4-FE8274C0938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229978-2A37-8138-8E1E-6899E4A3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4ED5F-D2DD-6ECE-B260-D5131A4D8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0D0D-1AD5-4C2A-B997-822FD7E372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82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C589-0B0F-D518-8E1F-5AE78C07A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338B9-091F-26CE-9A54-03B0A7951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BBFB75-5F62-C23C-F725-63D88FD6D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7A4A0-4359-FA53-DC83-B3C26E731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AF80-18D8-4548-A4D4-FE8274C0938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6E406-0C0E-B13B-EE1B-C507FD8E2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BD3E7-0296-D04A-E2B0-95FDAB55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0D0D-1AD5-4C2A-B997-822FD7E372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387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BBD67-418A-8AEA-6223-3A78489E3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A15E56-48BE-A1AC-3F52-91C5799346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4E40DD-FA3C-5A43-2879-E752CD0E1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7BA61-A0CC-641F-5683-67FB05281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AF80-18D8-4548-A4D4-FE8274C0938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39A35-DB4D-D775-1947-9F813CB3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1454C-F1E5-2201-1EF7-4F04D580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0D0D-1AD5-4C2A-B997-822FD7E372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979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B5C19-2C2D-B719-D99B-B25C92292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1BD01-0FD6-D335-8B70-F00C289D5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B05B6-213D-86E8-C829-FE2B957E4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AF80-18D8-4548-A4D4-FE8274C0938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4E0E0-F7FC-8A5C-FDF4-3FB860F86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B5611-79E6-1477-641F-927A0D568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0D0D-1AD5-4C2A-B997-822FD7E372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79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318AA6-DB76-8623-C1B3-4A25E01045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C25A0C-E5F8-6812-2445-85FC6C7BE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8DFE4-D12C-4C45-1E7D-344C9D38F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AF80-18D8-4548-A4D4-FE8274C0938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E9D79-4CF3-0A3E-637E-A320DA065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AE2EF-970F-0B94-50D1-70CF32D6E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0D0D-1AD5-4C2A-B997-822FD7E372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90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500F14-A279-CE5E-0F9C-31F16AD5C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F1CB1-FA93-5B38-A3C1-C8E2D67AF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BCD11-ACF8-6219-C049-53C4F9F2B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AAF80-18D8-4548-A4D4-FE8274C0938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C9125-71AF-D4BB-09E0-6033F5A151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86274-ACD3-B849-D09F-C0C00B4DA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BA0D0D-1AD5-4C2A-B997-822FD7E3728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2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CCAD2-0689-78BD-D1DF-CEA4F7852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2578" y="1020554"/>
            <a:ext cx="6201821" cy="2387600"/>
          </a:xfrm>
        </p:spPr>
        <p:txBody>
          <a:bodyPr>
            <a:normAutofit fontScale="90000"/>
          </a:bodyPr>
          <a:lstStyle/>
          <a:p>
            <a:r>
              <a:rPr lang="de-DE" dirty="0"/>
              <a:t>Analyse von Gründungsabsichten bei Studierenden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CE877-5B5F-0DD3-F845-4B27332514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5021" y="3602038"/>
            <a:ext cx="5096933" cy="1655762"/>
          </a:xfrm>
        </p:spPr>
        <p:txBody>
          <a:bodyPr/>
          <a:lstStyle/>
          <a:p>
            <a:r>
              <a:rPr lang="de-DE" dirty="0"/>
              <a:t>Was unterscheidet Unternehmer von   9-5 Angestellten?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2AFD8B-BEB2-8580-3AA7-7E1796A75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134" y="3089952"/>
            <a:ext cx="5566535" cy="18912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6872EA-7FAA-A8F8-3CBF-F521FAD1C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200" y="4981209"/>
            <a:ext cx="5713393" cy="14586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122E6E-A8D4-C8D5-F986-2DECC398EE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134" y="1020554"/>
            <a:ext cx="5393943" cy="189125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731AC2F-332E-B889-D956-22567E8F1735}"/>
              </a:ext>
            </a:extLst>
          </p:cNvPr>
          <p:cNvSpPr/>
          <p:nvPr/>
        </p:nvSpPr>
        <p:spPr>
          <a:xfrm>
            <a:off x="6119718" y="0"/>
            <a:ext cx="45719" cy="4741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048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7F684-C930-BE85-1A24-A3142E869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429000"/>
            <a:ext cx="3835400" cy="3542242"/>
          </a:xfrm>
        </p:spPr>
        <p:txBody>
          <a:bodyPr/>
          <a:lstStyle/>
          <a:p>
            <a:r>
              <a:rPr lang="de-DE" dirty="0"/>
              <a:t>FUTSUPNO Target Imbalance Plot</a:t>
            </a:r>
          </a:p>
          <a:p>
            <a:r>
              <a:rPr lang="de-DE" dirty="0"/>
              <a:t>(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survey</a:t>
            </a:r>
            <a:r>
              <a:rPr lang="de-DE" dirty="0"/>
              <a:t> </a:t>
            </a:r>
            <a:r>
              <a:rPr lang="de-DE" dirty="0" err="1"/>
              <a:t>weights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possible)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C3B2B5-3FC8-7510-55A7-D49563B9E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28233"/>
            <a:ext cx="5362708" cy="380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691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87A49-1397-7447-FAFE-0B8D84622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326" y="2204515"/>
            <a:ext cx="4291361" cy="2656855"/>
          </a:xfrm>
        </p:spPr>
        <p:txBody>
          <a:bodyPr/>
          <a:lstStyle/>
          <a:p>
            <a:pPr algn="ctr"/>
            <a:r>
              <a:rPr lang="de-DE" dirty="0"/>
              <a:t>Einfluss von Start-Ups auf deutsche Wirtschaft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BB772C-0A29-C0D7-A196-40DBC514BE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0461" y="1041051"/>
            <a:ext cx="5886003" cy="4775897"/>
          </a:xfrm>
        </p:spPr>
      </p:pic>
    </p:spTree>
    <p:extLst>
      <p:ext uri="{BB962C8B-B14F-4D97-AF65-F5344CB8AC3E}">
        <p14:creationId xmlns:p14="http://schemas.microsoft.com/office/powerpoint/2010/main" val="2317081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DBCAD-30BB-722A-C77C-4DAB3483F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 unterstützen wir Nicht-Unternehmer am besten?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CC2E3-510F-C745-5145-2C70208D8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Daten finden zu unternehmerischen Absichten</a:t>
            </a:r>
          </a:p>
          <a:p>
            <a:r>
              <a:rPr lang="de-DE" dirty="0"/>
              <a:t>KI-System trainieren zum Vorhersagen von unternehmerischen Absicht</a:t>
            </a:r>
          </a:p>
          <a:p>
            <a:r>
              <a:rPr lang="de-DE" dirty="0"/>
              <a:t>Analysieren der wichtigsten Einflussfaktoren: Was unterscheidet Studenten mit unternehmerischen Absichten von denen ohne?</a:t>
            </a:r>
          </a:p>
          <a:p>
            <a:r>
              <a:rPr lang="en-US" dirty="0" err="1"/>
              <a:t>Planen</a:t>
            </a:r>
            <a:r>
              <a:rPr lang="en-US" dirty="0"/>
              <a:t> von </a:t>
            </a:r>
            <a:r>
              <a:rPr lang="en-US" dirty="0" err="1"/>
              <a:t>möglichen</a:t>
            </a:r>
            <a:r>
              <a:rPr lang="en-US" dirty="0"/>
              <a:t> </a:t>
            </a:r>
            <a:r>
              <a:rPr lang="en-US" dirty="0" err="1"/>
              <a:t>Handlungsstrategien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379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7ADEE-EDDA-D602-2E83-ED325FA96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Global Entrepreneurship Monitor (GEM)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A822A-6D2B-A0EC-77FB-85C167557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Wer sind sie? </a:t>
            </a:r>
            <a:r>
              <a:rPr lang="de-DE" dirty="0"/>
              <a:t>Weltweit größte Studie zum Unternehmertum; Netzwerk von Forschenden.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Was machen sie?</a:t>
            </a:r>
            <a:r>
              <a:rPr lang="de-DE" dirty="0"/>
              <a:t> Sammeln und analysieren Daten zu unternehmerischen Aktivitäten, Einstellungen und Rahmenbedingungen in verschiedenen Ländern.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Wozu?</a:t>
            </a:r>
            <a:r>
              <a:rPr lang="de-DE" dirty="0"/>
              <a:t> Bieten Entscheidungsträgern, Forschenden und Unternehmern evidenzbasierte Einblicke zur Förderung des Unternehmertums.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553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28774-A23E-108E-5238-10042E73F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APS Survey Report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248A3-1338-5871-8D6F-260F3DFFE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Worum geht's?</a:t>
            </a:r>
            <a:r>
              <a:rPr lang="de-DE" dirty="0"/>
              <a:t> Basierend auf Umfragen unter der erwachsenen Bevölkerung.</a:t>
            </a:r>
          </a:p>
          <a:p>
            <a:r>
              <a:rPr lang="de-DE" b="1" dirty="0"/>
              <a:t>Zielvariable (FUTSUPNO):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„Erwartet, in den nächsten 3 Jahren ein Startup/Unternehmen zu gründen, ist aber derzeit nicht (18-64 Jahre).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8660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B813F-DF8C-6C5C-934D-E427E3B5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 Vorverarbeitung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3499E-5850-C1D3-6277-C60FCAB4F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Big </a:t>
            </a:r>
            <a:r>
              <a:rPr lang="de-DE" dirty="0" err="1"/>
              <a:t>table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nrow</a:t>
            </a:r>
            <a:r>
              <a:rPr lang="de-DE" dirty="0"/>
              <a:t> and </a:t>
            </a:r>
            <a:r>
              <a:rPr lang="de-DE" dirty="0" err="1"/>
              <a:t>ncol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776B53-0BC8-494A-CB56-4F9FF74917E9}"/>
              </a:ext>
            </a:extLst>
          </p:cNvPr>
          <p:cNvSpPr txBox="1"/>
          <p:nvPr/>
        </p:nvSpPr>
        <p:spPr>
          <a:xfrm>
            <a:off x="1159727" y="2687444"/>
            <a:ext cx="98353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Remove </a:t>
            </a:r>
            <a:r>
              <a:rPr lang="de-DE" dirty="0" err="1"/>
              <a:t>features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people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entrepreneurs</a:t>
            </a:r>
            <a:r>
              <a:rPr lang="de-DE" dirty="0"/>
              <a:t> (Target </a:t>
            </a:r>
            <a:r>
              <a:rPr lang="de-DE" dirty="0" err="1"/>
              <a:t>Leakage</a:t>
            </a:r>
            <a:r>
              <a:rPr lang="de-DE" dirty="0"/>
              <a:t>)</a:t>
            </a:r>
          </a:p>
          <a:p>
            <a:r>
              <a:rPr lang="de-DE" dirty="0"/>
              <a:t>Filter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Students</a:t>
            </a:r>
            <a:endParaRPr lang="de-DE" dirty="0"/>
          </a:p>
          <a:p>
            <a:r>
              <a:rPr lang="en-US" dirty="0"/>
              <a:t>Drop Raw Features in Favor of harmonized Features (due to reclassifications)</a:t>
            </a:r>
          </a:p>
          <a:p>
            <a:r>
              <a:rPr lang="en-US" dirty="0"/>
              <a:t>Analyze Structure of Missing Values (feature engineering, imputation, dropping)</a:t>
            </a:r>
          </a:p>
          <a:p>
            <a:r>
              <a:rPr lang="en-US" dirty="0"/>
              <a:t>Remove Redundancy &amp; Multicollinearity</a:t>
            </a:r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83612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175FD-93EE-8460-3211-AEFC4867A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Explorative Datenanalyse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B85C6-68C3-7DC5-4209-B2DE1472D9F6}"/>
              </a:ext>
            </a:extLst>
          </p:cNvPr>
          <p:cNvSpPr txBox="1"/>
          <p:nvPr/>
        </p:nvSpPr>
        <p:spPr>
          <a:xfrm>
            <a:off x="838200" y="3661073"/>
            <a:ext cx="343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Global </a:t>
            </a:r>
            <a:r>
              <a:rPr lang="de-DE" dirty="0" err="1"/>
              <a:t>Heatmap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D46C74-6762-A6B2-1B85-8E7F0FF15776}"/>
              </a:ext>
            </a:extLst>
          </p:cNvPr>
          <p:cNvSpPr txBox="1"/>
          <p:nvPr/>
        </p:nvSpPr>
        <p:spPr>
          <a:xfrm>
            <a:off x="8372707" y="3476407"/>
            <a:ext cx="3434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Necessity-driven</a:t>
            </a:r>
            <a:r>
              <a:rPr lang="de-DE" dirty="0"/>
              <a:t> vs. </a:t>
            </a:r>
            <a:r>
              <a:rPr lang="de-DE" dirty="0" err="1"/>
              <a:t>Opportunity-driven</a:t>
            </a:r>
            <a:r>
              <a:rPr lang="de-DE" dirty="0"/>
              <a:t> Entrepreneurship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250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95842-7F09-6D67-017F-1F80C534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Explorative Datenanalyse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340BD-9A2E-9342-ADA1-39312A8EA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FEAR OF FAILURE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667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95842-7F09-6D67-017F-1F80C534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Explorative Datenanalyse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340BD-9A2E-9342-ADA1-39312A8EA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PROACT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996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DE68-B189-608B-85FF-D8F42EFB8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2AAECF-C1A9-34BC-DB8C-73F1EC3F5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283" y="2787064"/>
            <a:ext cx="1995141" cy="2021655"/>
          </a:xfrm>
          <a:prstGeom prst="rect">
            <a:avLst/>
          </a:prstGeom>
        </p:spPr>
      </p:pic>
      <p:pic>
        <p:nvPicPr>
          <p:cNvPr id="2056" name="Picture 8" descr="Random forest line icon. Decision trees symbol. Machine learning technique  that's used to solve regression and classification problems. Complex  problems solution. Vector illustration, flat, clip art. Stock Vector |  Adobe Stock">
            <a:extLst>
              <a:ext uri="{FF2B5EF4-FFF2-40B4-BE49-F238E27FC236}">
                <a16:creationId xmlns:a16="http://schemas.microsoft.com/office/drawing/2014/main" id="{C9BE9FB0-0F18-573B-0D89-50624C8045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7"/>
          <a:stretch/>
        </p:blipFill>
        <p:spPr bwMode="auto">
          <a:xfrm>
            <a:off x="4620230" y="1625321"/>
            <a:ext cx="2951540" cy="173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 general architecture of XGBoost | Download Scientific Diagram">
            <a:extLst>
              <a:ext uri="{FF2B5EF4-FFF2-40B4-BE49-F238E27FC236}">
                <a16:creationId xmlns:a16="http://schemas.microsoft.com/office/drawing/2014/main" id="{C3E480AC-CD62-6341-6C07-D78BFD563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413" y="2616432"/>
            <a:ext cx="3243386" cy="173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D2E450A-1419-B7C8-50AB-34C24424B627}"/>
              </a:ext>
            </a:extLst>
          </p:cNvPr>
          <p:cNvSpPr/>
          <p:nvPr/>
        </p:nvSpPr>
        <p:spPr>
          <a:xfrm>
            <a:off x="614550" y="4984595"/>
            <a:ext cx="3691277" cy="15082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de-DE" sz="2000" b="1" dirty="0"/>
          </a:p>
          <a:p>
            <a:pPr algn="ctr"/>
            <a:r>
              <a:rPr lang="de-DE" sz="3200" b="1" dirty="0"/>
              <a:t>3</a:t>
            </a:r>
          </a:p>
          <a:p>
            <a:pPr algn="ctr"/>
            <a:r>
              <a:rPr lang="de-DE" sz="2400" dirty="0"/>
              <a:t>Logistische Regression</a:t>
            </a:r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3B3D79-4EE7-125A-B080-C8B3AC1F1E56}"/>
              </a:ext>
            </a:extLst>
          </p:cNvPr>
          <p:cNvSpPr/>
          <p:nvPr/>
        </p:nvSpPr>
        <p:spPr>
          <a:xfrm>
            <a:off x="7540468" y="4429268"/>
            <a:ext cx="3691277" cy="20636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de-DE" sz="2000" b="1" dirty="0"/>
          </a:p>
          <a:p>
            <a:pPr algn="ctr"/>
            <a:r>
              <a:rPr lang="de-DE" sz="3200" b="1" dirty="0"/>
              <a:t>2</a:t>
            </a:r>
          </a:p>
          <a:p>
            <a:pPr algn="ctr"/>
            <a:r>
              <a:rPr lang="de-DE" sz="2400" dirty="0" err="1"/>
              <a:t>XGBoost</a:t>
            </a:r>
            <a:endParaRPr lang="en-US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32039B-0033-B957-A75B-C36AAA159C58}"/>
              </a:ext>
            </a:extLst>
          </p:cNvPr>
          <p:cNvSpPr/>
          <p:nvPr/>
        </p:nvSpPr>
        <p:spPr>
          <a:xfrm>
            <a:off x="4239082" y="3429000"/>
            <a:ext cx="3301386" cy="30638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de-DE" sz="2000" dirty="0"/>
          </a:p>
          <a:p>
            <a:pPr algn="ctr"/>
            <a:r>
              <a:rPr lang="de-DE" sz="3200" b="1" dirty="0"/>
              <a:t>1</a:t>
            </a:r>
            <a:endParaRPr lang="de-DE" sz="2400" b="1" dirty="0"/>
          </a:p>
          <a:p>
            <a:pPr algn="ctr"/>
            <a:r>
              <a:rPr lang="de-DE" sz="2400" dirty="0" err="1"/>
              <a:t>RandomForest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868604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13556-CCD1-994D-A0E1-40FD8CB7C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Evaluation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23F7E-2C67-B159-DE82-91E675115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Confusion</a:t>
            </a:r>
            <a:r>
              <a:rPr lang="de-DE" dirty="0"/>
              <a:t> Matrix &amp; </a:t>
            </a:r>
            <a:r>
              <a:rPr lang="de-DE" dirty="0" err="1"/>
              <a:t>Sensitivity</a:t>
            </a:r>
            <a:r>
              <a:rPr lang="de-DE" dirty="0"/>
              <a:t> vs. </a:t>
            </a:r>
            <a:r>
              <a:rPr lang="de-DE" dirty="0" err="1"/>
              <a:t>Specificity</a:t>
            </a:r>
            <a:r>
              <a:rPr lang="de-DE" dirty="0"/>
              <a:t> </a:t>
            </a:r>
            <a:r>
              <a:rPr lang="de-DE" dirty="0" err="1"/>
              <a:t>Tradeoff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600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5870-79D9-C3B3-B529-CAA606D8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 err="1">
                <a:solidFill>
                  <a:srgbClr val="001D35"/>
                </a:solidFill>
                <a:effectLst/>
                <a:latin typeface="Google Sans"/>
              </a:rPr>
              <a:t>SH</a:t>
            </a:r>
            <a:r>
              <a:rPr lang="en-US" b="0" i="0" dirty="0" err="1">
                <a:solidFill>
                  <a:srgbClr val="001D35"/>
                </a:solidFill>
                <a:effectLst/>
                <a:latin typeface="Google Sans"/>
              </a:rPr>
              <a:t>apley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A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dditive </a:t>
            </a:r>
            <a:r>
              <a:rPr lang="en-US" b="0" i="0" dirty="0" err="1">
                <a:solidFill>
                  <a:srgbClr val="001D35"/>
                </a:solidFill>
                <a:effectLst/>
                <a:latin typeface="Google Sans"/>
              </a:rPr>
              <a:t>ex</a:t>
            </a:r>
            <a:r>
              <a:rPr lang="en-US" b="1" i="0" dirty="0" err="1">
                <a:solidFill>
                  <a:srgbClr val="001D35"/>
                </a:solidFill>
                <a:effectLst/>
                <a:latin typeface="Google Sans"/>
              </a:rPr>
              <a:t>P</a:t>
            </a:r>
            <a:r>
              <a:rPr lang="en-US" b="0" i="0" dirty="0" err="1">
                <a:solidFill>
                  <a:srgbClr val="001D35"/>
                </a:solidFill>
                <a:effectLst/>
                <a:latin typeface="Google Sans"/>
              </a:rPr>
              <a:t>lanations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A44C7-1194-4C14-7100-B435EE31C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90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F9B71-5F10-9897-79ED-0951BB7F5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Handlungsempfehlungen für Startup Campus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E6AAA-89EA-1B82-51E4-78A582C1B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330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Microsoft Office PowerPoint</Application>
  <PresentationFormat>Breitbild</PresentationFormat>
  <Paragraphs>61</Paragraphs>
  <Slides>14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Google Sans</vt:lpstr>
      <vt:lpstr>Office Theme</vt:lpstr>
      <vt:lpstr>Analyse von Gründungsabsichten bei Studierenden</vt:lpstr>
      <vt:lpstr>PowerPoint-Präsentation</vt:lpstr>
      <vt:lpstr>Einfluss von Start-Ups auf deutsche Wirtschaft</vt:lpstr>
      <vt:lpstr>Wie unterstützen wir Nicht-Unternehmer am besten?</vt:lpstr>
      <vt:lpstr>Global Entrepreneurship Monitor (GEM)</vt:lpstr>
      <vt:lpstr>APS Survey Report</vt:lpstr>
      <vt:lpstr>Daten Vorverarbeitung</vt:lpstr>
      <vt:lpstr>Explorative Datenanalyse</vt:lpstr>
      <vt:lpstr>Explorative Datenanalyse</vt:lpstr>
      <vt:lpstr>Explorative Datenanalyse</vt:lpstr>
      <vt:lpstr>Modelle</vt:lpstr>
      <vt:lpstr>Evaluation</vt:lpstr>
      <vt:lpstr>SHapley Additive exPlanations</vt:lpstr>
      <vt:lpstr>Handlungsempfehlungen für Startup Campus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von Gründungsabsichten bei Studierenden</dc:title>
  <dc:creator>Timo Rolf</dc:creator>
  <cp:lastModifiedBy>Timo Rolf</cp:lastModifiedBy>
  <cp:revision>3</cp:revision>
  <dcterms:created xsi:type="dcterms:W3CDTF">2025-06-22T10:01:42Z</dcterms:created>
  <dcterms:modified xsi:type="dcterms:W3CDTF">2025-06-22T11:31:01Z</dcterms:modified>
</cp:coreProperties>
</file>